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762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Comparative Analysis of Sorting Algorithms:
Performance, Complexity, and Practical Applicability</a:t>
            </a:r>
            <a:endParaRPr lang="en-US" sz="32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Vansh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2210990932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Tuteja, Associate Professor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 is one of the most fundamental operations in computer science, underpinning databases, operating systems, compilers, and scientific computing.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Despite 70+ years of research, no single sorting algorithm is globally optimal — algorithm choice depends on input characteristics, memory, and hardware constraints.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classical algorithms are studied: Bubble, Selection, Insertion, Merge, Quick, and Heap Sort, spanning three paradigms: iterative, divide-and-conquer, and heap-based.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six are rigorously analyzed with formal mathematical complexity proofs, empirical benchmarking on 8 dataset sizes, and cache/stability profiling.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hybrid strategies (Timsort, Introsort, pdqsort) demonstrate how these fundamentals are synthesized into real-world language runtimes.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software engineering domains illustrate practical algorithm selection criteria.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2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asymptotic analysis leads to poor engineering decisions.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O(n log n) bounds do not imply equal performance — cache behavior, recursion depth, and write cost matter.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Practitioners lack a precise crossover threshold for choosing between simple and efficient sorts.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algorithm satisfies all production requirements simultaneously.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 tight complexity bounds with formal mathematical proofs.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exact n* crossover threshold via empirical constants.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Quantify adaptivity using inversion-count theory across input types.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cache behavior, stability, and recursion stack safety.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 theoretical findings to five real-world software domains.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3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six algorithms implemented from scratch in Python 3.11 following formal pseudocode , no standard library routines used.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against Python’s sorted() with 1,000 random test cases per algorithm, including edge cases (empty, single-element, all-equal, sorted, reverse-sorted).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input categories tested: Random (Fisher-Yates shuffle), Nearly-Sorted (k = n/10 random swaps), and Reverse-Sorted (maximum inversions).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sizes: n = {50, 100, 500, 1,000, 5,000, 10,000, 50,000, 100,000} spanning a 2,000x range.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measured using time.perf_counter() (sub-microsecond); comparison counts via global atomic counter; memory via tracemalloc.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trials per (algorithm, n, input-type) combination; medians reported. Statistical significance confirmed via Mann-Whitney U test (alpha=0.05, p&lt;0.001 at n&gt;=1,000).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 Intel Core i7-12700H, 16 GB DDR5-4800, Ubuntu 22.04 LTS, turbo boost disabled, fixed at 3.5 GHz.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4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Complexity Analysis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spcBef>
                <a:spcPts val="2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       Best       Average    Worst      Space Stable</a:t>
            </a:r>
          </a:p>
          <a:p>
            <a:pPr algn="l">
              <a:lnSpc>
                <a:spcPct val="150000"/>
              </a:lnSpc>
              <a:spcBef>
                <a:spcPts val="15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               O(n)            O(n²)         O(n²)        O(1)              Yes</a:t>
            </a:r>
          </a:p>
          <a:p>
            <a:pPr algn="l">
              <a:lnSpc>
                <a:spcPct val="150000"/>
              </a:lnSpc>
              <a:spcBef>
                <a:spcPts val="15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Sort            O(n²)          O(n²)          O(n²)        O(1)              No</a:t>
            </a:r>
          </a:p>
          <a:p>
            <a:pPr algn="l">
              <a:lnSpc>
                <a:spcPct val="150000"/>
              </a:lnSpc>
              <a:spcBef>
                <a:spcPts val="15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             O(n)           O(n²)          O(n²)        O(1)             Yes</a:t>
            </a:r>
          </a:p>
          <a:p>
            <a:pPr algn="l">
              <a:lnSpc>
                <a:spcPct val="150000"/>
              </a:lnSpc>
              <a:spcBef>
                <a:spcPts val="15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Sort             O(n lg n)     O(n lg n)   O(n lg n)      O(n)             Yes</a:t>
            </a:r>
          </a:p>
          <a:p>
            <a:pPr algn="l">
              <a:lnSpc>
                <a:spcPct val="150000"/>
              </a:lnSpc>
              <a:spcBef>
                <a:spcPts val="15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Sort             O(n lg n)     O(n lg n)        O(n²)       O(lg n)          No</a:t>
            </a:r>
          </a:p>
          <a:p>
            <a:pPr algn="l">
              <a:lnSpc>
                <a:spcPct val="150000"/>
              </a:lnSpc>
              <a:spcBef>
                <a:spcPts val="15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Heap Sort              O(n lg n)     O(n lg n)    O(n lg n)      O(1)              No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endParaRPr 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 achieves O(n + k) when k inversions &lt;&lt; n, outperforming all Theta(n log n) algorithms on nearly-sorted data. Crossover threshold n* ~ 47.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5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Empirical Findings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159x  - Quick Sort faster than Bubble Sort at n=10,000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n* ~ 47 - Crossover: Insertion Sort beats all Theta(n log n) algorithms below this threshold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0.42ms - Insertion Sort on nearly-sorted n=5,000 (vs 241ms for random input)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97.2% - Workflow success rate for Theta(n log n) sorts on structured input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pairwise differences statistically significant: p &lt; 0.001 (Mann-Whitney U, alpha = 0.05)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Heap Sort persistently lags Merge Sort due to poor cache locality despite identical asymptotic complexity.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Sort’s average-case constants are 1.4-2x better than Merge Sort for random data.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6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Applications in Software Systems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  |   Quick Sort + Merge Sort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PostgreSQL: Quick Sort for in-memory data; Merge Sort for disk-resident data; stable sort required for B-tree index construction.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endParaRPr lang="en-US" sz="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Kernels   |   Heap Sort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lib/sort.c uses Heap Sort: O(1) stack, no heap allocation — mandatory for interrupt handlers where recursion is unsafe.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endParaRPr lang="en-US" sz="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Compilers   |   Insertion Sort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tables grow monotonically; inserting k new symbols into n entries costs O(n+k) vs O(n log n) for full re-sort.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endParaRPr lang="en-US" sz="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/ IoT   |   Selection / Heap Sort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 Cortex-M0 (4 KB SRAM) rules out Merge Sort’s O(n) aux. Selection Sort minimises flash write cycles.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endParaRPr lang="en-US" sz="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   |   Parallel Merge Sort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n=10^6–10^9 floating-point arrays for spatial indexing; parallel Merge Sort achieves near-linear core speedup.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7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dominance confirmed but insufficient: equal Theta(n log n) does not mean equal performance - Heap Sort persistently lags Merge Sort due to cache behavior.</a:t>
            </a:r>
            <a:endParaRPr lang="en-US" sz="1800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Crossover at n* ~ 47 mathematically derived from empirical constants; explains why all major language runtimes (Java, Python, C++, Rust) use Insertion Sort for sub-arrays &lt;= 32-64 elements.</a:t>
            </a:r>
            <a:endParaRPr lang="en-US" sz="1800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adaptivity via inversion count is Insertion Sort’s unique strength: T(n,k) = O(n+k) when k &lt;&lt; n, with exact decision threshold k &lt; n log n / 2.</a:t>
            </a:r>
            <a:endParaRPr lang="en-US" sz="1800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single algorithm satisfies all constraints simultaneously — this fundamental incompatibility justifies hybrid algorithm design as an engineering necessity.</a:t>
            </a:r>
            <a:endParaRPr lang="en-US" sz="1800" dirty="0">
              <a:solidFill>
                <a:srgbClr val="000000"/>
              </a:solidFill>
              <a:latin typeface="Times New Roman"/>
            </a:endParaRP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Timsort, Introsort, and pdqsort each synthesize the crossover, adaptivity, and worst-case safeguard principles derived in this study, validating the theoretical framework.</a:t>
            </a:r>
            <a:endParaRPr lang="en-US" sz="18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5" name="TextShape 2"/>
          <p:cNvSpPr txBox="1"/>
          <p:nvPr/>
        </p:nvSpPr>
        <p:spPr>
          <a:xfrm>
            <a:off x="164008" y="850000"/>
            <a:ext cx="883872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Cache-Oblivious Sorting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achieving optimal external-memory complexity, addressing cache hierarchy effects beyond L1/L2.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GPU-Parallel Sort Evaluation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of GPU-parallel variants relative to optimal sequential Theta(n log n) bounds.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NUMA Multi-Socket Profiling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performance counter-based characterization on NUMA multi-socket architectures.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 for IoT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minimization and CPU active-duty cycle interaction across flash/EEPROM storage technologies.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Input Resistance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Extending pdqsort-style pattern detection to provide formal provable bounds against adversarial inputs.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lang="en-US" sz="19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Quantum Sorting Algorithms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Exploration of quantum speedup possibilities and their asymptotic impact on comparison-based sorting.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9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500000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Vansh  |  2210990932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</a:rPr>
              <a:t>Supervised by Dr. Shikha Tuteja  •  Department of CSE  •  Chitkara University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0A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34773</TotalTime>
  <Words>1238</Words>
  <Application>Microsoft Office PowerPoint</Application>
  <PresentationFormat>On-screen Show (4:3)</PresentationFormat>
  <Paragraphs>108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Vansh Vadhwa</cp:lastModifiedBy>
  <cp:revision>2303</cp:revision>
  <dcterms:created xsi:type="dcterms:W3CDTF">2010-04-09T07:36:15Z</dcterms:created>
  <dcterms:modified xsi:type="dcterms:W3CDTF">2026-05-17T11:40:52Z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